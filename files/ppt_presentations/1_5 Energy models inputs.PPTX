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4"/>
  </p:notesMasterIdLst>
  <p:handoutMasterIdLst>
    <p:handoutMasterId r:id="rId15"/>
  </p:handoutMasterIdLst>
  <p:sldIdLst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handoutMaster" Target="handoutMasters/handoutMaster1.xml"/><Relationship Id="rId10" Type="http://schemas.openxmlformats.org/officeDocument/2006/relationships/customXml" Target="../customXml/item10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34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5D34821D-7433-48B6-BC01-A399FA153F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1708" y="2004766"/>
            <a:ext cx="4558671" cy="56426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altLang="en-US" dirty="0"/>
              <a:t>Data collection</a:t>
            </a:r>
            <a:endParaRPr lang="en-GB" altLang="en-US" sz="2400" dirty="0"/>
          </a:p>
          <a:p>
            <a:pPr marL="0" indent="0" algn="ctr">
              <a:spcBef>
                <a:spcPts val="0"/>
              </a:spcBef>
              <a:buNone/>
            </a:pP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parameters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900086A-694F-4C1B-99AF-C013CDBB9AF7}"/>
              </a:ext>
            </a:extLst>
          </p:cNvPr>
          <p:cNvSpPr txBox="1">
            <a:spLocks noChangeArrowheads="1"/>
          </p:cNvSpPr>
          <p:nvPr/>
        </p:nvSpPr>
        <p:spPr>
          <a:xfrm>
            <a:off x="1261709" y="3751221"/>
            <a:ext cx="4558671" cy="564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altLang="en-US" dirty="0"/>
              <a:t>Data pre-processing</a:t>
            </a:r>
            <a:endParaRPr lang="en-GB" altLang="en-US" sz="24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GB" alt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1F99D45-E559-45FF-B561-2D077B92ED44}"/>
              </a:ext>
            </a:extLst>
          </p:cNvPr>
          <p:cNvSpPr txBox="1">
            <a:spLocks noChangeArrowheads="1"/>
          </p:cNvSpPr>
          <p:nvPr/>
        </p:nvSpPr>
        <p:spPr>
          <a:xfrm>
            <a:off x="1261704" y="5357140"/>
            <a:ext cx="4558671" cy="564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altLang="en-US"/>
              <a:t>Model calibration</a:t>
            </a:r>
            <a:endParaRPr lang="en-GB" altLang="en-US" sz="240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GB" altLang="en-US" dirty="0"/>
          </a:p>
        </p:txBody>
      </p:sp>
      <p:sp>
        <p:nvSpPr>
          <p:cNvPr id="10" name="Down Arrow 1">
            <a:extLst>
              <a:ext uri="{FF2B5EF4-FFF2-40B4-BE49-F238E27FC236}">
                <a16:creationId xmlns:a16="http://schemas.microsoft.com/office/drawing/2014/main" id="{81765D3F-7A72-4669-82EB-B072D2A0A1CF}"/>
              </a:ext>
            </a:extLst>
          </p:cNvPr>
          <p:cNvSpPr/>
          <p:nvPr/>
        </p:nvSpPr>
        <p:spPr>
          <a:xfrm>
            <a:off x="2737484" y="2876663"/>
            <a:ext cx="1551008" cy="3935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16C2521A-1C1B-459E-91DF-BFF37070F23A}"/>
              </a:ext>
            </a:extLst>
          </p:cNvPr>
          <p:cNvSpPr/>
          <p:nvPr/>
        </p:nvSpPr>
        <p:spPr>
          <a:xfrm>
            <a:off x="2739413" y="4580065"/>
            <a:ext cx="1551008" cy="3935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10E73555-102B-450D-B8FF-BC40DFE049CC}"/>
              </a:ext>
            </a:extLst>
          </p:cNvPr>
          <p:cNvSpPr/>
          <p:nvPr/>
        </p:nvSpPr>
        <p:spPr>
          <a:xfrm>
            <a:off x="5663710" y="1542956"/>
            <a:ext cx="5055452" cy="173275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0B33BEED-B5F9-4BF5-A534-50739FBD83E0}"/>
              </a:ext>
            </a:extLst>
          </p:cNvPr>
          <p:cNvSpPr/>
          <p:nvPr/>
        </p:nvSpPr>
        <p:spPr>
          <a:xfrm>
            <a:off x="5663709" y="3528081"/>
            <a:ext cx="5055452" cy="128704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68435DEB-7589-48FC-BD6A-736E513D6AB3}"/>
              </a:ext>
            </a:extLst>
          </p:cNvPr>
          <p:cNvSpPr/>
          <p:nvPr/>
        </p:nvSpPr>
        <p:spPr>
          <a:xfrm>
            <a:off x="5652061" y="5015015"/>
            <a:ext cx="5055452" cy="120542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C77B56F-74DD-42DD-9C0F-791CC1BA6201}"/>
              </a:ext>
            </a:extLst>
          </p:cNvPr>
          <p:cNvSpPr txBox="1">
            <a:spLocks noChangeArrowheads="1"/>
          </p:cNvSpPr>
          <p:nvPr/>
        </p:nvSpPr>
        <p:spPr>
          <a:xfrm>
            <a:off x="5820375" y="1625322"/>
            <a:ext cx="4831006" cy="1443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altLang="en-US" sz="1800" dirty="0"/>
              <a:t>Electricity demand projections</a:t>
            </a:r>
          </a:p>
          <a:p>
            <a:pPr>
              <a:spcBef>
                <a:spcPts val="0"/>
              </a:spcBef>
            </a:pPr>
            <a:r>
              <a:rPr lang="en-GB" altLang="en-US" sz="1800" dirty="0"/>
              <a:t>Primary resources potentials</a:t>
            </a:r>
          </a:p>
          <a:p>
            <a:pPr>
              <a:spcBef>
                <a:spcPts val="0"/>
              </a:spcBef>
            </a:pPr>
            <a:r>
              <a:rPr lang="en-GB" altLang="en-US" sz="1800" dirty="0"/>
              <a:t>Existing capacity</a:t>
            </a:r>
          </a:p>
          <a:p>
            <a:pPr>
              <a:spcBef>
                <a:spcPts val="0"/>
              </a:spcBef>
            </a:pPr>
            <a:r>
              <a:rPr lang="en-GB" altLang="en-US" sz="1800" dirty="0"/>
              <a:t>Technology costs and characteristics</a:t>
            </a:r>
          </a:p>
          <a:p>
            <a:pPr>
              <a:spcBef>
                <a:spcPts val="0"/>
              </a:spcBef>
            </a:pPr>
            <a:r>
              <a:rPr lang="en-GB" altLang="en-US" sz="1800" dirty="0"/>
              <a:t>Country/region specific constraints</a:t>
            </a:r>
          </a:p>
          <a:p>
            <a:pPr>
              <a:spcBef>
                <a:spcPts val="0"/>
              </a:spcBef>
            </a:pPr>
            <a:r>
              <a:rPr lang="it-IT" altLang="en-US" sz="1800" dirty="0"/>
              <a:t>Fuel prices</a:t>
            </a:r>
            <a:endParaRPr lang="en-GB" altLang="en-US" sz="18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altLang="en-US" sz="18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B698281-B95A-42A8-851C-089B3FA4A665}"/>
              </a:ext>
            </a:extLst>
          </p:cNvPr>
          <p:cNvSpPr txBox="1">
            <a:spLocks noChangeArrowheads="1"/>
          </p:cNvSpPr>
          <p:nvPr/>
        </p:nvSpPr>
        <p:spPr>
          <a:xfrm>
            <a:off x="5822305" y="3612527"/>
            <a:ext cx="4831006" cy="1080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altLang="en-US" sz="1800" dirty="0"/>
              <a:t>Discretization of demand curves</a:t>
            </a:r>
          </a:p>
          <a:p>
            <a:pPr>
              <a:spcBef>
                <a:spcPts val="0"/>
              </a:spcBef>
            </a:pPr>
            <a:r>
              <a:rPr lang="it-IT" altLang="en-US" sz="1800" dirty="0"/>
              <a:t>Regression analyses where projections are not available</a:t>
            </a:r>
          </a:p>
          <a:p>
            <a:pPr>
              <a:spcBef>
                <a:spcPts val="0"/>
              </a:spcBef>
            </a:pPr>
            <a:r>
              <a:rPr lang="it-IT" altLang="en-US" sz="1800" dirty="0"/>
              <a:t>Etc…</a:t>
            </a:r>
            <a:endParaRPr lang="en-GB" altLang="en-US" sz="1800" dirty="0"/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GB" altLang="en-US" sz="18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EC6DE638-11A9-468B-9EE5-C3956D8D5B86}"/>
              </a:ext>
            </a:extLst>
          </p:cNvPr>
          <p:cNvSpPr txBox="1">
            <a:spLocks noChangeArrowheads="1"/>
          </p:cNvSpPr>
          <p:nvPr/>
        </p:nvSpPr>
        <p:spPr>
          <a:xfrm>
            <a:off x="5822304" y="5191854"/>
            <a:ext cx="4831006" cy="981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it-IT" altLang="en-US" sz="1800" dirty="0"/>
              <a:t>I.e. set the starting year of the model as a past year for which actual data is available. From this starting point all that follows depends!</a:t>
            </a:r>
            <a:endParaRPr lang="en-GB" altLang="en-US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F52B9-0CE9-407F-B65B-1A63B719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4847-7D0E-4490-8303-9045E3C03C6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4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70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OSeMOSYS_dESA_OpTIMUS</vt:lpstr>
      <vt:lpstr>Custom Design</vt:lpstr>
      <vt:lpstr>Input parameters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2020-04-02T16:17:28Z</dcterms:modified>
</cp:coreProperties>
</file>